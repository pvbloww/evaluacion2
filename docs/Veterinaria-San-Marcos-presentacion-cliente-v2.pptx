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94dfb0911640a5" /><Relationship Type="http://schemas.openxmlformats.org/officeDocument/2006/relationships/extended-properties" Target="/docProps/app.xml" Id="R3e394dac40a14270" /><Relationship Type="http://schemas.openxmlformats.org/officeDocument/2006/relationships/officeDocument" Target="/ppt/presentation.xml" Id="R3816e2b8f16248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757874dd4149e3"/>
  </p:sldMasterIdLst>
  <p:notesMasterIdLst>
    <p:notesMasterId xmlns:r="http://schemas.openxmlformats.org/officeDocument/2006/relationships" r:id="Re2faf48f153a44a5"/>
  </p:notesMasterIdLst>
  <p:sldIdLst>
    <p:sldId xmlns:r="http://schemas.openxmlformats.org/officeDocument/2006/relationships" id="256" r:id="Rf335674a9af04293"/>
    <p:sldId xmlns:r="http://schemas.openxmlformats.org/officeDocument/2006/relationships" id="257" r:id="R17689ca99c43436a"/>
    <p:sldId xmlns:r="http://schemas.openxmlformats.org/officeDocument/2006/relationships" id="258" r:id="R8803440879a2417e"/>
    <p:sldId xmlns:r="http://schemas.openxmlformats.org/officeDocument/2006/relationships" id="259" r:id="Ra98fbd837e684164"/>
    <p:sldId xmlns:r="http://schemas.openxmlformats.org/officeDocument/2006/relationships" id="260" r:id="R30abdd8824144580"/>
    <p:sldId xmlns:r="http://schemas.openxmlformats.org/officeDocument/2006/relationships" id="261" r:id="R494c29ce98ce46d3"/>
    <p:sldId xmlns:r="http://schemas.openxmlformats.org/officeDocument/2006/relationships" id="262" r:id="R8602e71f7b1e4e1e"/>
    <p:sldId xmlns:r="http://schemas.openxmlformats.org/officeDocument/2006/relationships" id="263" r:id="Rebea79e94bae46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bb5e6971bf40c9" /><Relationship Type="http://schemas.openxmlformats.org/officeDocument/2006/relationships/slideMaster" Target="/ppt/slideMasters/slideMaster1.xml" Id="R9f757874dd4149e3" /><Relationship Type="http://schemas.openxmlformats.org/officeDocument/2006/relationships/notesMaster" Target="/ppt/notesMasters/notesMaster1.xml" Id="Re2faf48f153a44a5" /><Relationship Type="http://schemas.openxmlformats.org/officeDocument/2006/relationships/presProps" Target="/ppt/presProps.xml" Id="R16ecfe11f23e4ab9" /><Relationship Type="http://schemas.openxmlformats.org/officeDocument/2006/relationships/tableStyles" Target="/ppt/tableStyles.xml" Id="R0da7d19ff37f4561" /><Relationship Type="http://schemas.openxmlformats.org/officeDocument/2006/relationships/slide" Target="/ppt/slides/slide1.xml" Id="Rf335674a9af04293" /><Relationship Type="http://schemas.openxmlformats.org/officeDocument/2006/relationships/slide" Target="/ppt/slides/slide2.xml" Id="R17689ca99c43436a" /><Relationship Type="http://schemas.openxmlformats.org/officeDocument/2006/relationships/slide" Target="/ppt/slides/slide3.xml" Id="R8803440879a2417e" /><Relationship Type="http://schemas.openxmlformats.org/officeDocument/2006/relationships/slide" Target="/ppt/slides/slide4.xml" Id="Ra98fbd837e684164" /><Relationship Type="http://schemas.openxmlformats.org/officeDocument/2006/relationships/slide" Target="/ppt/slides/slide5.xml" Id="R30abdd8824144580" /><Relationship Type="http://schemas.openxmlformats.org/officeDocument/2006/relationships/slide" Target="/ppt/slides/slide6.xml" Id="R494c29ce98ce46d3" /><Relationship Type="http://schemas.openxmlformats.org/officeDocument/2006/relationships/slide" Target="/ppt/slides/slide7.xml" Id="R8602e71f7b1e4e1e" /><Relationship Type="http://schemas.openxmlformats.org/officeDocument/2006/relationships/slide" Target="/ppt/slides/slide8.xml" Id="Rebea79e94bae46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e994f5944242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aff4e8cdf1454a" /><Relationship Type="http://schemas.openxmlformats.org/officeDocument/2006/relationships/notesMaster" Target="/ppt/notesMasters/notesMaster1.xml" Id="Rc216a76187414f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87274ebf224f13" /><Relationship Type="http://schemas.openxmlformats.org/officeDocument/2006/relationships/notesMaster" Target="/ppt/notesMasters/notesMaster1.xml" Id="Rc6a9de0e0c344b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b4b98248d44431" /><Relationship Type="http://schemas.openxmlformats.org/officeDocument/2006/relationships/notesMaster" Target="/ppt/notesMasters/notesMaster1.xml" Id="R677713a5964f4e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e0eb2aa7a24da4" /><Relationship Type="http://schemas.openxmlformats.org/officeDocument/2006/relationships/notesMaster" Target="/ppt/notesMasters/notesMaster1.xml" Id="R049566f478aa4e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7c4660cb7d4ece" /><Relationship Type="http://schemas.openxmlformats.org/officeDocument/2006/relationships/notesMaster" Target="/ppt/notesMasters/notesMaster1.xml" Id="Rc235429ae3654d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26dcf0b45e4633" /><Relationship Type="http://schemas.openxmlformats.org/officeDocument/2006/relationships/notesMaster" Target="/ppt/notesMasters/notesMaster1.xml" Id="Rb19540ce59ec40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f5f263e87f4bef" /><Relationship Type="http://schemas.openxmlformats.org/officeDocument/2006/relationships/notesMaster" Target="/ppt/notesMasters/notesMaster1.xml" Id="Rac37e0bcf21d4f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7277e37d714d82" /><Relationship Type="http://schemas.openxmlformats.org/officeDocument/2006/relationships/notesMaster" Target="/ppt/notesMasters/notesMaster1.xml" Id="R746d465e04cc4c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proyecto como una solución digital demostrativa para Veterinaria San Marcos.</a:t>
            </a:r>
          </a:p>
          <a:p xmlns:a="http://schemas.openxmlformats.org/drawingml/2006/main">
            <a:r>
              <a:t>Aclarar que las imágenes y el video representan una propuesta académica; no afirmar que el sistema ya opera en una clínica real.</a:t>
            </a:r>
          </a:p>
          <a:p xmlns:a="http://schemas.openxmlformats.org/drawingml/2006/main">
            <a:r>
              <a:t>Fuentes del proyecto: README.md; src/App.jsx; componentes, páginas, datos y pruebas Vitest correspondientes al tema de esta diapositiva.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Enmarcar estas frases como necesidades que el sitio busca resolver; no presentarlas como problemas medidos de un cliente real.</a:t>
            </a:r>
          </a:p>
          <a:p xmlns:a="http://schemas.openxmlformats.org/drawingml/2006/main">
            <a:r>
              <a:t>La propuesta ordena información institucional, productos, contenido, contacto y compra simulada.</a:t>
            </a:r>
          </a:p>
          <a:p xmlns:a="http://schemas.openxmlformats.org/drawingml/2006/main">
            <a:r>
              <a:t>Fuentes del proyecto: README.md; src/App.jsx; componentes, páginas, datos y pruebas Vitest correspondientes al tema de esta diapositiva.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la demostración en vivo se verá cómo el producto se agrega al carrito, cómo cambian las cantidades y cómo el formulario revisa los datos.</a:t>
            </a:r>
          </a:p>
          <a:p xmlns:a="http://schemas.openxmlformats.org/drawingml/2006/main">
            <a:r>
              <a:t>El pedido no realiza un cobro real.</a:t>
            </a:r>
          </a:p>
          <a:p xmlns:a="http://schemas.openxmlformats.org/drawingml/2006/main">
            <a:r>
              <a:t>Fuentes del proyecto: README.md; src/App.jsx; componentes, páginas, datos y pruebas Vitest correspondientes al tema de esta diapositiva.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video fue compartido por el equipo y corresponde a otra veterinaria; se usa de forma simulativa, no como registro de Veterinaria San Marcos.</a:t>
            </a:r>
          </a:p>
          <a:p xmlns:a="http://schemas.openxmlformats.org/drawingml/2006/main">
            <a:r>
              <a:t>El mapa orienta sobre ubicación, pero no permite reservar horas.</a:t>
            </a:r>
          </a:p>
          <a:p xmlns:a="http://schemas.openxmlformats.org/drawingml/2006/main">
            <a:r>
              <a:t>Fuentes del proyecto: README.md; src/App.jsx; componentes, páginas, datos y pruebas Vitest correspondientes al tema de esta diapositiva.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pantalla administrativa se abre en /admin con credenciales de demostración indicadas en el README.</a:t>
            </a:r>
          </a:p>
          <a:p xmlns:a="http://schemas.openxmlformats.org/drawingml/2006/main">
            <a:r>
              <a:t>La administración usa almacenamiento local del navegador; no es un panel conectado a un servidor. En la prueba en vivo se mostrará ingreso, alta/edición de producto, imagen, categoría y eliminación.</a:t>
            </a:r>
          </a:p>
          <a:p xmlns:a="http://schemas.openxmlformats.org/drawingml/2006/main">
            <a:r>
              <a:t>Fuentes del proyecto: README.md; src/App.jsx; componentes, páginas, datos y pruebas Vitest correspondientes al tema de esta diapositiva.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Bootstrap y CSS apoyan el diseño adaptable.</a:t>
            </a:r>
          </a:p>
          <a:p xmlns:a="http://schemas.openxmlformats.org/drawingml/2006/main">
            <a:r>
              <a:t>Las validaciones muestran errores simples debajo del campo. No hay avisos flotantes nativos al enviar esos formularios.</a:t>
            </a:r>
          </a:p>
          <a:p xmlns:a="http://schemas.openxmlformats.org/drawingml/2006/main">
            <a:r>
              <a:t>Fuentes del proyecto: README.md; src/App.jsx; componentes, páginas, datos y pruebas Vitest correspondientes al tema de esta diapositiva.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App.jsx están las rutas. StoreContext comparte productos y carrito; componentes comunes están en src/components.</a:t>
            </a:r>
          </a:p>
          <a:p xmlns:a="http://schemas.openxmlformats.org/drawingml/2006/main">
            <a:r>
              <a:t>Las seis pruebas actuales cubren funciones unitarias del carrito y ofertas. No se debe afirmar que existe cobertura porcentual configurada ni pruebas de interfaz completas.</a:t>
            </a:r>
          </a:p>
          <a:p xmlns:a="http://schemas.openxmlformats.org/drawingml/2006/main">
            <a:r>
              <a:t>Fuentes del proyecto: README.md; src/App.jsx; componentes, páginas, datos y pruebas Vitest correspondientes al tema de esta diapositiva.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 transparente con el alcance: es una SPA demostrativa, los cambios de catálogo son locales y la compra no procesa pagos.</a:t>
            </a:r>
          </a:p>
          <a:p xmlns:a="http://schemas.openxmlformats.org/drawingml/2006/main">
            <a:r>
              <a:t>Transición sugerida: “Ahora que vimos qué resuelve y cómo está construida, probaremos el recorrido directamente en la página”.</a:t>
            </a:r>
          </a:p>
          <a:p xmlns:a="http://schemas.openxmlformats.org/drawingml/2006/main">
            <a:r>
              <a:t>No declarar cumplido backend Spring Boot, API, autenticación/roles de servidor, reservas de hora o cobertura porcentual: no están implementados.</a:t>
            </a:r>
          </a:p>
          <a:p xmlns:a="http://schemas.openxmlformats.org/drawingml/2006/main">
            <a:r>
              <a:t>Fuentes del proyecto: README.md; src/App.jsx; componentes, páginas, datos y pruebas Vitest correspondientes al tema de esta diapositiva.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5b00c8205245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214204017041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1f0b64f31479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6adae80d7346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610502ec548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65d705f6794a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53C170-1881-434E-ABF6-23963B1519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48CD936-851B-4F42-995F-D2C0AB9CC4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5F92696-A5B8-40EC-B60B-722B5764B7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CBF1FF-CFB7-4E36-A6C0-EBA1F7EBA3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4D632E8-6458-489C-9368-BF9E5D9136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6DE913-46CD-4AF7-AB05-75D22F074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21AAE3-F919-4B7A-B469-7696481FAE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9B37572-75F6-4FF3-BCE9-D0D92612175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0B5117-3AD4-4E96-80FB-FD504B732C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D0F913-8503-44FB-BAEE-E227794246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cecd77161b4fb4" /><Relationship Type="http://schemas.openxmlformats.org/officeDocument/2006/relationships/slideLayout" Target="/ppt/slideLayouts/slideLayout1.xml" Id="Rd59825af030248d4" /><Relationship Type="http://schemas.openxmlformats.org/officeDocument/2006/relationships/slideLayout" Target="/ppt/slideLayouts/slideLayout2.xml" Id="Ra8ea09e4fb38428e" /><Relationship Type="http://schemas.openxmlformats.org/officeDocument/2006/relationships/slideLayout" Target="/ppt/slideLayouts/slideLayout3.xml" Id="R2568cbccc41a4eed" /><Relationship Type="http://schemas.openxmlformats.org/officeDocument/2006/relationships/slideLayout" Target="/ppt/slideLayouts/slideLayout4.xml" Id="R9960483a57fc4991" /><Relationship Type="http://schemas.openxmlformats.org/officeDocument/2006/relationships/slideLayout" Target="/ppt/slideLayouts/slideLayout5.xml" Id="Rf04bd2d0015c48b0" /><Relationship Type="http://schemas.openxmlformats.org/officeDocument/2006/relationships/slideLayout" Target="/ppt/slideLayouts/slideLayout6.xml" Id="R534e9ac4227b4e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9825af030248d4"/>
    <p:sldLayoutId xmlns:r="http://schemas.openxmlformats.org/officeDocument/2006/relationships" id="2147483650" r:id="Ra8ea09e4fb38428e"/>
    <p:sldLayoutId xmlns:r="http://schemas.openxmlformats.org/officeDocument/2006/relationships" id="2147483651" r:id="R2568cbccc41a4eed"/>
    <p:sldLayoutId xmlns:r="http://schemas.openxmlformats.org/officeDocument/2006/relationships" id="2147483652" r:id="R9960483a57fc4991"/>
    <p:sldLayoutId xmlns:r="http://schemas.openxmlformats.org/officeDocument/2006/relationships" id="2147483653" r:id="Rf04bd2d0015c48b0"/>
    <p:sldLayoutId xmlns:r="http://schemas.openxmlformats.org/officeDocument/2006/relationships" id="2147483654" r:id="R534e9ac4227b4e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ee50738cc44cdd" /><Relationship Type="http://schemas.openxmlformats.org/officeDocument/2006/relationships/image" Target="/ppt/media/image.png" Id="R3181ef6fc0b64d07" /><Relationship Type="http://schemas.openxmlformats.org/officeDocument/2006/relationships/notesSlide" Target="/ppt/notesSlides/notesSlide1.xml" Id="R3dc47a573b0b4d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e097ba4c174182" /><Relationship Type="http://schemas.openxmlformats.org/officeDocument/2006/relationships/notesSlide" Target="/ppt/notesSlides/notesSlide2.xml" Id="R596dde19f9e248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39e6c02e854318" /><Relationship Type="http://schemas.openxmlformats.org/officeDocument/2006/relationships/image" Target="/ppt/media/image2.png" Id="R633f48f1121249f4" /><Relationship Type="http://schemas.openxmlformats.org/officeDocument/2006/relationships/notesSlide" Target="/ppt/notesSlides/notesSlide3.xml" Id="Rd6b3701c808040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58ca35253a47cb" /><Relationship Type="http://schemas.openxmlformats.org/officeDocument/2006/relationships/image" Target="/ppt/media/image3.png" Id="Rb8857733e35449e2" /><Relationship Type="http://schemas.openxmlformats.org/officeDocument/2006/relationships/notesSlide" Target="/ppt/notesSlides/notesSlide4.xml" Id="R0ca4aa9d433a45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1ae82aced04c14" /><Relationship Type="http://schemas.openxmlformats.org/officeDocument/2006/relationships/notesSlide" Target="/ppt/notesSlides/notesSlide5.xml" Id="R04a5aa3f67a54c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30a5582fd945cd" /><Relationship Type="http://schemas.openxmlformats.org/officeDocument/2006/relationships/image" Target="/ppt/media/image4.png" Id="R94fab3e5e4844690" /><Relationship Type="http://schemas.openxmlformats.org/officeDocument/2006/relationships/notesSlide" Target="/ppt/notesSlides/notesSlide6.xml" Id="R7db11efc5db449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6ba8d04ea644e6" /><Relationship Type="http://schemas.openxmlformats.org/officeDocument/2006/relationships/notesSlide" Target="/ppt/notesSlides/notesSlide7.xml" Id="R5cbf59daa9934b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b70d6a0b5a4e0d" /><Relationship Type="http://schemas.openxmlformats.org/officeDocument/2006/relationships/notesSlide" Target="/ppt/notesSlides/notesSlide8.xml" Id="R9dd0b564290f48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D93CC-34A0-42F5-A134-5295B156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A101F-6313-4803-B289-20981B86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20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20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20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20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20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20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20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20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20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B9E0CB"/>
                </a:solidFill>
                <a:latin typeface="Segoe UI"/>
                <a:ea typeface="Segoe UI"/>
                <a:cs typeface="Segoe UI"/>
              </a:rPr>
              <a:t>VETERINARIA SAN MARCOS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D75D5-5F5E-42DA-90CB-306A9615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Una experiencia digital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para el cuidado animal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5D7E1-0CCB-4E48-B6AB-BAA10DD0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5000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E6F0EB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725" b="0">
                <a:solidFill>
                  <a:srgbClr val="E6F0EB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725" b="0">
                <a:solidFill>
                  <a:srgbClr val="E6F0EB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725" b="0">
                <a:solidFill>
                  <a:srgbClr val="E6F0EB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725" b="0">
                <a:solidFill>
                  <a:srgbClr val="E6F0EB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725" b="0">
                <a:solidFill>
                  <a:srgbClr val="E6F0EB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725" b="0">
                <a:solidFill>
                  <a:srgbClr val="E6F0EB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725" b="0">
                <a:solidFill>
                  <a:srgbClr val="E6F0EB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725" b="0">
                <a:solidFill>
                  <a:srgbClr val="E6F0EB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725" b="0">
                <a:solidFill>
                  <a:srgbClr val="E6F0E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6F0EB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E6F0EB"/>
                </a:solidFill>
                <a:latin typeface="Segoe UI"/>
                <a:ea typeface="Segoe UI"/>
                <a:cs typeface="Segoe UI"/>
              </a:rPr>
              <a:t>Propuesta de sitio web para informar, orientar y facilitar la compra de productos veterinarios.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171F9-FA37-4632-BD30-E20858D5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809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82379-1231-4BBA-863F-B2697B0B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E6F0EB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200" b="0">
                <a:solidFill>
                  <a:srgbClr val="E6F0EB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200" b="0">
                <a:solidFill>
                  <a:srgbClr val="E6F0EB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200" b="0">
                <a:solidFill>
                  <a:srgbClr val="E6F0EB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200" b="0">
                <a:solidFill>
                  <a:srgbClr val="E6F0EB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200" b="0">
                <a:solidFill>
                  <a:srgbClr val="E6F0EB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200" b="0">
                <a:solidFill>
                  <a:srgbClr val="E6F0EB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200" b="0">
                <a:solidFill>
                  <a:srgbClr val="E6F0EB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200" b="0">
                <a:solidFill>
                  <a:srgbClr val="E6F0EB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200" b="0">
                <a:solidFill>
                  <a:srgbClr val="E6F0E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6F0E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E6F0EB"/>
                </a:solidFill>
                <a:latin typeface="Segoe UI"/>
                <a:ea typeface="Segoe UI"/>
                <a:cs typeface="Segoe UI"/>
              </a:rPr>
              <a:t>Presentación al cliente · Proyecto académico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57983-D564-48A2-87DD-A9A8883FE8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1ef6fc0b64d07"/>
          <a:srcRect xmlns:a="http://schemas.openxmlformats.org/drawingml/2006/main" l="23148" t="0" r="231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oundRect">
            <a:avLst>
              <a:gd name="adj" fmla="val 3448"/>
            </a:avLst>
          </a:prstGeom>
        </p:spPr>
      </p:pic>
    </p:spTree>
    <p:extLst>
      <p:ext uri="{BB962C8B-B14F-4D97-AF65-F5344CB8AC3E}">
        <p14:creationId xmlns:p14="http://schemas.microsoft.com/office/powerpoint/2010/main" val="6447777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ADF433-E50A-411F-86AE-9BF96311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2F7A5F"/>
                </a:solidFill>
                <a:latin typeface="Segoe UI"/>
                <a:ea typeface="Segoe UI"/>
                <a:cs typeface="Segoe UI"/>
              </a:rPr>
              <a:t>EL DESAFÍO DEL CLIENTE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181A2-F8B3-45A3-AB2C-D4BC55FE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Necesidades que aborda el sitio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1964E-B2F1-40A0-899A-E59BA1C7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DF1DF-4D67-4A5A-9352-DBE6CC3B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5A6B64"/>
                </a:solidFill>
                <a:latin typeface="Segoe UI"/>
                <a:ea typeface="Segoe UI"/>
                <a:cs typeface="Segoe UI"/>
              </a:rPr>
              <a:t>02  ·  Veterinaria San Marcos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7FEE2-B3E9-4235-9702-197C3748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287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Una vitrina digital clara puede ayudar a que los tutores encuentren información y sepan cómo continuar.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62FDD-CD81-498B-B116-C9D2AF3B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E27A28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7D1BC-26B5-4E62-9ECD-F4446F4C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Conocer la clínica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01829-24DF-42D8-8C01-ABE8D77F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Presentar información, servicios y ubicación en un solo lugar.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CBA40-89B6-40E2-8A95-EA338F09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623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6875A-6CF1-4B5E-B0C9-ADC61156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E27A2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AE620-EE1B-44D3-AAFB-A61AF538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Encontrar productos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093E2-6834-446D-9898-EDE2B5E8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5280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Explorar el catálogo, buscar por categoría y revisar ofertas.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FBB94-8EE8-4A64-B81A-B5C6BAB2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433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38130-2193-4937-B9EB-2239784D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E27A28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BC9870-5836-4C75-913A-3825D4E7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Resolver dudas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83FA8-53B5-435E-88E6-054E127B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3385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Acceder a artículos del blog y canales de contacto.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59390-DC41-4ADB-9367-FBC12B58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3025B-0AC3-4DEC-965E-FB497406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E27A28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055735-7662-46CB-A96B-37157428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149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Continuar una compra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E8FAEA-992A-452F-A697-EC22008A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1490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Agregar productos al carrito y revisar un pedido de demostración.</a:t>
            </a:r>
          </a:p>
        </p:txBody>
      </p:sp>
    </p:spTree>
    <p:extLst>
      <p:ext uri="{BB962C8B-B14F-4D97-AF65-F5344CB8AC3E}">
        <p14:creationId xmlns:p14="http://schemas.microsoft.com/office/powerpoint/2010/main" val="17938991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A345DB-C3A4-4772-94F1-F4083B32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2F7A5F"/>
                </a:solidFill>
                <a:latin typeface="Segoe UI"/>
                <a:ea typeface="Segoe UI"/>
                <a:cs typeface="Segoe UI"/>
              </a:rPr>
              <a:t>EXPERIENCIA DE COMPRA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4EF83-504E-485F-8AAC-70AEF072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Una ruta simple para el tutor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A2E46-95EF-4EAA-83C3-22245A56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7250F-F3C3-4084-BF3B-2C1C2CA2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5A6B64"/>
                </a:solidFill>
                <a:latin typeface="Segoe UI"/>
                <a:ea typeface="Segoe UI"/>
                <a:cs typeface="Segoe UI"/>
              </a:rPr>
              <a:t>03  ·  Veterinaria San Marcos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ED153-3814-4775-A1BD-86500645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6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6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6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6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6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6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6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6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6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Desde descubrir un producto hasta revisar el resumen del pedido.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AA101-4842-4747-9452-5B8A8571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107D1-3C7E-45D4-BF60-20744CD5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289F1-9A68-4504-8C2C-AC4E2319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Explora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28C7B-0CC3-4E92-A6A2-E4ABF9F7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A6B64"/>
                </a:solidFill>
                <a:latin typeface="Segoe UI"/>
                <a:ea typeface="Segoe UI"/>
                <a:cs typeface="Segoe UI"/>
              </a:rPr>
              <a:t>Catálogo, categorías y buscador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B49E0-A971-4AAC-B090-6FE45720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622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6ED05-2489-4377-B454-37DF5AC0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C2C34-1139-439C-8CBC-319B1A06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51607-2C43-4D9E-ACAF-7B45FEF6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575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Compara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4BCA8A-4773-4F5F-B022-A830BA19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4807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A6B64"/>
                </a:solidFill>
                <a:latin typeface="Segoe UI"/>
                <a:ea typeface="Segoe UI"/>
                <a:cs typeface="Segoe UI"/>
              </a:rPr>
              <a:t>Detalle del producto y ofertas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9C46E-B3C8-4BDE-8851-D8C31C20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622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A37D5-DB78-4AE4-AB0A-B0F3B9D4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A457F-0D3B-4DDA-B1E9-33DC402C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6AB3D-3325-4432-AF50-5D54351F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575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Organiza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BA26EE-452A-4272-8CC4-93768B79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4807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A6B64"/>
                </a:solidFill>
                <a:latin typeface="Segoe UI"/>
                <a:ea typeface="Segoe UI"/>
                <a:cs typeface="Segoe UI"/>
              </a:rPr>
              <a:t>Carrito, cantidades y entrega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0D48FB-85B2-429B-B4E5-DFA4A426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622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E68221-ABEA-433D-898E-E3D8CA68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5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26C419-9B19-4258-B0CF-7B2B59B0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86C484-1A3D-44F3-86F9-87F84729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575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Confirma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92C4ED-B4E9-4198-9D5E-5DC150F2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4807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A6B64"/>
                </a:solidFill>
                <a:latin typeface="Segoe UI"/>
                <a:ea typeface="Segoe UI"/>
                <a:cs typeface="Segoe UI"/>
              </a:rPr>
              <a:t>Formulario y resultado simulado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40F526-6B2F-48D5-BB36-CCF84BD168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f48f1121249f4"/>
          <a:stretch xmlns:a="http://schemas.openxmlformats.org/drawingml/2006/main"/>
        </p:blipFill>
        <p:spPr>
          <a:xfrm xmlns:a="http://schemas.openxmlformats.org/drawingml/2006/main">
            <a:off x="8929688" y="4333875"/>
            <a:ext cx="1571625" cy="1571625"/>
          </a:xfrm>
          <a:prstGeom xmlns:a="http://schemas.openxmlformats.org/drawingml/2006/main" prst="roundRect">
            <a:avLst>
              <a:gd name="adj" fmla="val 12121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D52336-E51E-43B4-AE4A-5EB4A01B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El flujo informa antes de pedir datos y muestra claramente que el pago es simulado.</a:t>
            </a:r>
          </a:p>
        </p:txBody>
      </p:sp>
    </p:spTree>
    <p:extLst>
      <p:ext uri="{BB962C8B-B14F-4D97-AF65-F5344CB8AC3E}">
        <p14:creationId xmlns:p14="http://schemas.microsoft.com/office/powerpoint/2010/main" val="17286129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0A591F-52C2-485D-8865-7BDED7B3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2F7A5F"/>
                </a:solidFill>
                <a:latin typeface="Segoe UI"/>
                <a:ea typeface="Segoe UI"/>
                <a:cs typeface="Segoe UI"/>
              </a:rPr>
              <a:t>PRESENCIA DIGITAL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14E6A-141C-454D-B23E-BFA70502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Información y contenido en un mismo sitio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D4649-4DFE-4669-BD0D-CCF8EB4C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2A5A2-8A0E-4B89-9CA5-1A8A9563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5A6B64"/>
                </a:solidFill>
                <a:latin typeface="Segoe UI"/>
                <a:ea typeface="Segoe UI"/>
                <a:cs typeface="Segoe UI"/>
              </a:rPr>
              <a:t>04  ·  Veterinaria San Marcos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D6713-DE11-482D-A039-E7387BE199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57733e35449e2"/>
          <a:srcRect xmlns:a="http://schemas.openxmlformats.org/drawingml/2006/main" l="0" t="3205" r="0" b="32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1809750"/>
            <a:ext cx="3714750" cy="3476625"/>
          </a:xfrm>
          <a:prstGeom xmlns:a="http://schemas.openxmlformats.org/drawingml/2006/main" prst="roundRect">
            <a:avLst>
              <a:gd name="adj" fmla="val 547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B9AFA-0E53-4D22-9E10-85214EF0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383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E8471-666E-43B3-9B19-FD966F87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Nosotros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8FA44-DF15-42C1-921B-D996CD97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097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Historia, servicios y ubicación de referencia.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5D2A7-2E31-4B26-8037-502E62A7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908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948F4-66F1-48DB-9F9F-6A338780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Blog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22479-22D3-4F24-9647-9B564AFE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622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Artículos y contenido informativo para tutores.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A2630-7FB4-40DC-B14F-1B9CEE72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33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98A9D-94B7-4944-BBC3-66EB8CD5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Contacto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87669-E403-46F4-A4DF-C56BA39D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147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Formulario y mapa de ubicación.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C622BE-589F-42C1-BF3E-DD95BB0C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9582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8CD71-0A5E-4BAC-8FF9-17C04ABA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Ofertas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57B0F-DFF9-4F4F-86D5-77AC9C2E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672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Sección propia con productos seleccionados.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4E6638-597F-49A2-8B26-AF5B8B04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12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12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12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12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12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12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12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12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12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A6B64"/>
                </a:solidFill>
                <a:latin typeface="Segoe UI"/>
                <a:ea typeface="Segoe UI"/>
                <a:cs typeface="Segoe UI"/>
              </a:rPr>
              <a:t>El sitio también integra un video de YouTube como recurso demostrativo.</a:t>
            </a:r>
          </a:p>
        </p:txBody>
      </p:sp>
    </p:spTree>
    <p:extLst>
      <p:ext uri="{BB962C8B-B14F-4D97-AF65-F5344CB8AC3E}">
        <p14:creationId xmlns:p14="http://schemas.microsoft.com/office/powerpoint/2010/main" val="124856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9F856C-8320-4D7A-84C0-21F3857C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2F7A5F"/>
                </a:solidFill>
                <a:latin typeface="Segoe UI"/>
                <a:ea typeface="Segoe UI"/>
                <a:cs typeface="Segoe UI"/>
              </a:rPr>
              <a:t>ADMINISTRACIÓN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58EC1-17D6-4BA0-AE41-3101D0FC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Gestión básica del catálogo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B5761-3A5E-4A07-A5B7-63417B91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A5734-2A06-4165-BE1B-070DFA9D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5A6B64"/>
                </a:solidFill>
                <a:latin typeface="Segoe UI"/>
                <a:ea typeface="Segoe UI"/>
                <a:cs typeface="Segoe UI"/>
              </a:rPr>
              <a:t>05  ·  Veterinaria San Marcos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FE4D9-AEE7-46A5-A9D3-002B3C81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716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7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7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7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7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7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7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7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7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7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El perfil de administración permite mantener el catálogo de la demostración.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29F7E-8E07-4D45-AA4A-5512D5A4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Agregar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9A014-BE6A-4823-AD54-38894909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431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Crear productos con código, nombre, categoría, precio, stock y descripción.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5F875-F054-4F88-B370-824B7E36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575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BF025-B5D3-43E1-BDE4-F73E59FF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765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Actualizar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E0B71-0D9A-47BC-A59B-AABFFF49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76575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Editar los datos de un producto existente.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3F046-AF94-4BEF-B7DE-58748837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59092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ED50B-F482-4549-B733-D77C5629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Organizar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8EE5D-5C98-483E-9C5E-3B267533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8100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Escribir categorías nuevas; se guardan en mayúsculas.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0293C-DF3C-467A-AC7C-FEAA41C7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243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13E65-9533-4F68-914C-18D3CEB0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434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Ilustrar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3FCDF-56F1-40C8-ADA4-B8154E51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543425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Escribir la ruta o el enlace de una imagen para el producto.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0121D-1105-4195-A76D-1FF26699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0577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5A8D86-173A-4C00-A6CA-B54A8612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Eliminar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0B9278-F03F-4CAC-9EA8-23D5B715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2768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Quitar productos con confirmación.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5B3BA-3849-42CC-841B-A2D73987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E0D966-0D50-4F41-88E6-6283D78D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12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12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12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12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12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12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12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12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12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A6B64"/>
                </a:solidFill>
                <a:latin typeface="Segoe UI"/>
                <a:ea typeface="Segoe UI"/>
                <a:cs typeface="Segoe UI"/>
              </a:rPr>
              <a:t>Los cambios se guardan en el navegador de esta demostración.</a:t>
            </a:r>
          </a:p>
        </p:txBody>
      </p:sp>
    </p:spTree>
    <p:extLst>
      <p:ext uri="{BB962C8B-B14F-4D97-AF65-F5344CB8AC3E}">
        <p14:creationId xmlns:p14="http://schemas.microsoft.com/office/powerpoint/2010/main" val="13000231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3066B-FE3C-4588-8DD8-CFACF7A9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2F7A5F"/>
                </a:solidFill>
                <a:latin typeface="Segoe UI"/>
                <a:ea typeface="Segoe UI"/>
                <a:cs typeface="Segoe UI"/>
              </a:rPr>
              <a:t>DISEÑO Y USO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C48A3-ECF3-46F0-8382-48DFEF60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Interfaz simple y adaptable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CED26-B471-4843-8CA7-23D5A777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9693F-E9CC-4175-9CEB-89C5B3A0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5A6B64"/>
                </a:solidFill>
                <a:latin typeface="Segoe UI"/>
                <a:ea typeface="Segoe UI"/>
                <a:cs typeface="Segoe UI"/>
              </a:rPr>
              <a:t>06  ·  Veterinaria San Marcos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62FEF-1F37-44F0-A6FA-AF030267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49530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3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AD1EF-B70C-4C51-9ED0-E41374E12B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fab3e5e4844690"/>
          <a:stretch xmlns:a="http://schemas.openxmlformats.org/drawingml/2006/main"/>
        </p:blipFill>
        <p:spPr>
          <a:xfrm xmlns:a="http://schemas.openxmlformats.org/drawingml/2006/main">
            <a:off x="900113" y="1981200"/>
            <a:ext cx="2047875" cy="2047875"/>
          </a:xfrm>
          <a:prstGeom xmlns:a="http://schemas.openxmlformats.org/drawingml/2006/main" prst="roundRect">
            <a:avLst>
              <a:gd name="adj" fmla="val 93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DE2EC-8D0F-467B-955C-5571E274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Catálogo de productos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D30BF-F5CC-4E7E-9015-DA3EF393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4171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35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35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35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35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35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35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35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35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35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B64"/>
                </a:solidFill>
                <a:latin typeface="Segoe UI"/>
                <a:ea typeface="Segoe UI"/>
                <a:cs typeface="Segoe UI"/>
              </a:rPr>
              <a:t>Diseño limpio, tonos verdes y fotografías del proyecto.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8E9DA-9B58-4436-97C9-8ACC9309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19275"/>
            <a:ext cx="476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Móvil y escritorio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5CFA1-1CDD-45ED-A146-6379DF9A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485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Distribución adaptable a distintos tamaños de pantalla.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921CE-77B1-4E6A-8642-F6D08412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0825"/>
            <a:ext cx="476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Componentes reutilizables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E771F-9E8D-434A-81E8-4C634DD4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85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Menú, pie de página, campos, imágenes y tarjetas compartidas.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6230B-AC12-454E-B7D3-7408AD50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476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Validaciones directas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A2B86-9890-40A1-977E-2F6E1BD3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485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Campos requeridos, formato de correo y límites básicos.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3699B-B6AF-4223-8950-190496A8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33925"/>
            <a:ext cx="476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Errores visibles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61B7F-7624-4721-A7EA-A34F8866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86350"/>
            <a:ext cx="485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Mensajes breves aparecen junto al campo correspondiente.</a:t>
            </a:r>
          </a:p>
        </p:txBody>
      </p:sp>
    </p:spTree>
    <p:extLst>
      <p:ext uri="{BB962C8B-B14F-4D97-AF65-F5344CB8AC3E}">
        <p14:creationId xmlns:p14="http://schemas.microsoft.com/office/powerpoint/2010/main" val="12288688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5FC645-EA17-4B1D-940B-BF3AF7EE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7A5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2F7A5F"/>
                </a:solidFill>
                <a:latin typeface="Segoe UI"/>
                <a:ea typeface="Segoe UI"/>
                <a:cs typeface="Segoe UI"/>
              </a:rPr>
              <a:t>IMPLEMENTACIÓN ACADÉMICA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E06BA-1ED7-490F-BB28-43C2ADDF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Cómo se construyó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49D13-E1BB-4773-8AC6-9494474D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9E89A-2F5E-445B-A7B5-D03360A9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5A6B64"/>
                </a:solidFill>
                <a:latin typeface="Segoe UI"/>
                <a:ea typeface="Segoe UI"/>
                <a:cs typeface="Segoe UI"/>
              </a:rPr>
              <a:t>07  ·  Veterinaria San Marcos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20903-67FA-4BF4-AAF8-EE8E2967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716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7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7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7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7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7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7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7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7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7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La aplicación organiza páginas y funciones en piezas reutilizables.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2129E-C2BF-484E-B413-60A78D69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React + React Router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D5018-CF29-446B-9433-57AB90AF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4762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SPA con rutas para inicio, catálogo, ofertas, blog, contacto, carrito y administración.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25E74-A020-4655-B2F2-EEECAFB6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React-Bootstrap + CSS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1DE99-753A-4AF6-8F83-985981DB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4762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Componentes visuales y estilos sencillos con la paleta del sitio.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7749A-1EEF-4EC6-8A5E-0AD97F6E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Estado compartido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817FD-6AAE-43EE-8B42-09FA4C67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4762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Contexto para productos y carrito; datos de demostración guardados localmente.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4C3C1-5182-4005-8FB6-C9F3F68B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32CEE-A36E-4B20-83FD-E57D5780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05942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05942"/>
                </a:solidFill>
                <a:latin typeface="Segoe UI"/>
                <a:ea typeface="Segoe UI"/>
                <a:cs typeface="Segoe UI"/>
              </a:rPr>
              <a:t>Pruebas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1D118-7CB3-4803-874D-AD085FBC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194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E27A2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E27A28"/>
                </a:solidFill>
                <a:latin typeface="Segoe UI"/>
                <a:ea typeface="Segoe UI"/>
                <a:cs typeface="Segoe UI"/>
              </a:rPr>
              <a:t>Vitest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11799-F24F-40FE-83BE-38093AD8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051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00" b="1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00" b="1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00" b="1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00" b="1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00" b="1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00" b="1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00" b="1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00" b="1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00" b="1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6 pruebas unitarias básicas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9E1CE-DCB4-4C31-AFAA-A17798DC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33800"/>
            <a:ext cx="409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3312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3312C"/>
                </a:solidFill>
                <a:latin typeface="Segoe UI"/>
                <a:ea typeface="Segoe UI"/>
                <a:cs typeface="Segoe UI"/>
              </a:rPr>
              <a:t>Revisan cantidades y subtotal del carrito, además del cálculo y uso de ofertas.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AD4B46-7005-42F5-8181-1B39462C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38700"/>
            <a:ext cx="4095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2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2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2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2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2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2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2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2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2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A6B6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B64"/>
                </a:solidFill>
                <a:latin typeface="Segoe UI"/>
                <a:ea typeface="Segoe UI"/>
                <a:cs typeface="Segoe UI"/>
              </a:rPr>
              <a:t>Las pruebas automatizadas se ejecutan con Vitest.</a:t>
            </a:r>
          </a:p>
        </p:txBody>
      </p:sp>
    </p:spTree>
    <p:extLst>
      <p:ext uri="{BB962C8B-B14F-4D97-AF65-F5344CB8AC3E}">
        <p14:creationId xmlns:p14="http://schemas.microsoft.com/office/powerpoint/2010/main" val="6659769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059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9BA90-49A7-4045-80A7-ABFC7819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Alcance actual y demostración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192F9-DB84-49A9-92CD-2455AFEE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47F18-32B9-406A-A6FD-836FFF16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65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65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65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65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65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65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65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65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65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B9E0CB"/>
                </a:solidFill>
                <a:latin typeface="Segoe UI"/>
                <a:ea typeface="Segoe UI"/>
                <a:cs typeface="Segoe UI"/>
              </a:rPr>
              <a:t>Disponible en esta versión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1EC29-E56D-4821-89D6-A8260650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4667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Catálogo · Ofertas · Blog · Contacto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Carrito y compra simulada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Administración local de productos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Pruebas unitarias con Vitest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C07AF-0FC7-41E9-B497-1BB6B377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95450"/>
            <a:ext cx="190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5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252AB-1188-420F-B7CD-CC688AD0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65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65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65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65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65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65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65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65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65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B9E0CB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B9E0CB"/>
                </a:solidFill>
                <a:latin typeface="Segoe UI"/>
                <a:ea typeface="Segoe UI"/>
                <a:cs typeface="Segoe UI"/>
              </a:rPr>
              <a:t>Fuera del alcance implementado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4B11A-C602-435A-AEF6-05D42386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4762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Backend Spring Boot y API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Autenticación y roles reales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Pago real y gestión de citas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Cobertura porcentual configurada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DB560-7320-4A5B-AB51-D8918B4B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5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D81B1-30FB-49DF-91C0-B1EBB4CB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530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 continuación veremos la página: formularios, validaciones, carrito y perfil de administración.</a:t>
            </a:r>
          </a:p>
        </p:txBody>
      </p:sp>
    </p:spTree>
    <p:extLst>
      <p:ext uri="{BB962C8B-B14F-4D97-AF65-F5344CB8AC3E}">
        <p14:creationId xmlns:p14="http://schemas.microsoft.com/office/powerpoint/2010/main" val="152556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2026-10-19T20:34:37.4460000Z</dcterms:created>
  <dcterms:modified xsi:type="dcterms:W3CDTF">2026-10-19T20:34:37.4460000Z</dcterms:modified>
</coreProperties>
</file>